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ReAct vs Rigid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31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D96FF"/>
                </a:solidFill>
                <a:latin typeface="Calibri"/>
              </a:defRPr>
            </a:pPr>
            <a:r>
              <a:t>AI Recursive Q&amp;A Tuneup - 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Multi-Agent LangGraph Application with Django &amp;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2062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2062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Django 5.1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062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4480" y="123444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React 18 + TypeScript + Material-UI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Nginx  |  Port 3081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4480" y="224028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Django 5.1 + DRF + Daphne ASGI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Port 8042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1892808"/>
            <a:ext cx="274320" cy="192024"/>
          </a:xfrm>
          <a:prstGeom prst="down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310896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54480" y="324612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LangChain 0.3 + LangGraph 0.2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2898648"/>
            <a:ext cx="274320" cy="192024"/>
          </a:xfrm>
          <a:prstGeom prst="down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411480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425196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Task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51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Celery 5.4 + Beat + Flower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3904488"/>
            <a:ext cx="274320" cy="192024"/>
          </a:xfrm>
          <a:prstGeom prst="down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512064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54480" y="525780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257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PostgreSQL 16 + Redis 7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43600" y="4910328"/>
            <a:ext cx="274320" cy="192024"/>
          </a:xfrm>
          <a:prstGeom prst="down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5943600"/>
            <a:ext cx="941832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54480" y="608076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60807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OpenAI API  |  LangSmith  |  Langfuse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43600" y="5916168"/>
            <a:ext cx="274320" cy="9144"/>
          </a:xfrm>
          <a:prstGeom prst="down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Four Agent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Adaptive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Conditional routing with LLM disambiguation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Dynamic tool selection &amp; retry logic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Graceful error handling &amp; fallback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100" b="1">
                <a:solidFill>
                  <a:srgbClr val="6C63FF"/>
                </a:solidFill>
                <a:latin typeface="Consolas"/>
              </a:defRPr>
            </a:pPr>
            <a:r>
              <a:t>START -&gt; react_node -&gt; email_node / contact_node -&gt;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394960" cy="411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Rigid Plan-and-Execute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Fixed sequential plan, no deviation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Deterministic execution path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No retry or fallback mechanism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100" b="1">
                <a:solidFill>
                  <a:srgbClr val="FF9800"/>
                </a:solidFill>
                <a:latin typeface="Consolas"/>
              </a:defRPr>
            </a:pPr>
            <a:r>
              <a:t>START -&gt; planner -&gt; contacts -&gt; email -&gt;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39496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4CAF50"/>
                </a:solidFill>
                <a:latin typeface="Consolas"/>
              </a:defRPr>
            </a:pPr>
            <a:r>
              <a:t>Supervisor + specialized sub-agents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Research / Reasoning / Action agents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A2A (Agent-to-Agent) communication protocol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100" b="1">
                <a:solidFill>
                  <a:srgbClr val="4CAF50"/>
                </a:solidFill>
                <a:latin typeface="Consolas"/>
              </a:defRPr>
            </a:pPr>
            <a:r>
              <a:t>Supervisor -&gt; [Research, Reasoning, Action] -&gt; 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94960" cy="411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Recursive Q&amp;A Tuneup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Iterative refinement loop with scoring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Confidence threshold for convergence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  Self-evaluation &amp; quality gating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100" b="1">
                <a:solidFill>
                  <a:srgbClr val="00BCD4"/>
                </a:solidFill>
                <a:latin typeface="Consolas"/>
              </a:defRPr>
            </a:pPr>
            <a:r>
              <a:t>Answer -&gt; Evaluate -&gt; Refine -&gt; Answer  (loop)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Request Flow &amp;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96FF"/>
                </a:solidFill>
                <a:latin typeface="Calibri"/>
              </a:defRPr>
            </a:pPr>
            <a:r>
              <a:t>Primary 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184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  <a:br/>
            <a:r>
              <a:t>Frontend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00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REST API /</a:t>
            </a:r>
            <a:br/>
            <a:r>
              <a:t>WebSocket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616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Django</a:t>
            </a:r>
            <a:br/>
            <a:r>
              <a:t>Views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332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  <a:br/>
            <a:r>
              <a:t>Services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048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  <a:br/>
            <a:r>
              <a:t>Workflow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  <a:br/>
            <a: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48088" y="1737360"/>
            <a:ext cx="192024" cy="182880"/>
          </a:xfrm>
          <a:prstGeom prst="rightArrow">
            <a:avLst/>
          </a:prstGeom>
          <a:solidFill>
            <a:srgbClr val="9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146304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Celery Async Path (Long-Running Tasks)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Django</a:t>
            </a:r>
            <a:br/>
            <a:r>
              <a:t>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755648" y="3200400"/>
            <a:ext cx="146304" cy="18288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Celery</a:t>
            </a:r>
            <a:br/>
            <a:r>
              <a:t>Broker (Redis)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10128" y="3200400"/>
            <a:ext cx="146304" cy="18288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Celery</a:t>
            </a:r>
            <a:br/>
            <a:r>
              <a:t>Worker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64608" y="3200400"/>
            <a:ext cx="146304" cy="18288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  <a:br/>
            <a:r>
              <a:t>Execution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419088" y="3200400"/>
            <a:ext cx="146304" cy="18288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  <a:br/>
            <a:r>
              <a:t>Backend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73568" y="3200400"/>
            <a:ext cx="146304" cy="18288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2926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WebSocket</a:t>
            </a:r>
            <a:br/>
            <a:r>
              <a:t>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Document Upload &amp; RAG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Upload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65506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7452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PDF</a:t>
            </a:r>
            <a:br/>
            <a:r>
              <a:t>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238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9184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Text</a:t>
            </a:r>
            <a:br/>
            <a:r>
              <a:t>Chunking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48970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0916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Embedding</a:t>
            </a:r>
            <a:br/>
            <a:r>
              <a:t>Generation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90702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Vector</a:t>
            </a:r>
            <a:br/>
            <a:r>
              <a:t>Storage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32434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4380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RAG Context</a:t>
            </a:r>
            <a:br/>
            <a:r>
              <a:t>Retrieval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741664" y="4754880"/>
            <a:ext cx="182880" cy="18288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61120" y="443484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Augmented</a:t>
            </a:r>
            <a:br/>
            <a:r>
              <a:t>Response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806440"/>
            <a:ext cx="182880" cy="1828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Sync Request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806440"/>
            <a:ext cx="182880" cy="182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Agent Processing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80644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Async Task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806440"/>
            <a:ext cx="182880" cy="182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Docker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3000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D96FF"/>
                </a:solidFill>
                <a:latin typeface="Calibri"/>
              </a:defRPr>
            </a:pPr>
            <a:r>
              <a:t>app_network (bridge)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011680" cy="3657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Nginx +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Port 3081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002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201168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Django + Daphne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Port 8042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6002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1600200"/>
            <a:ext cx="201168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celery_worker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Celery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Async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002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00200"/>
            <a:ext cx="201168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celery_beat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Celery 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1280" y="1600200"/>
            <a:ext cx="201168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Flower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Port 5557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3749039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3749039"/>
            <a:ext cx="20116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062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6177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Port 5437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749039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749039"/>
            <a:ext cx="2011680" cy="3657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062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6177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Port 6383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566160" y="3063240"/>
            <a:ext cx="640080" cy="685799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3063240"/>
            <a:ext cx="3657600" cy="685799"/>
          </a:xfrm>
          <a:prstGeom prst="line">
            <a:avLst/>
          </a:prstGeom>
          <a:ln w="2540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75120" y="3063240"/>
            <a:ext cx="1188720" cy="685799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D96FF"/>
                </a:solidFill>
                <a:latin typeface="Calibri"/>
              </a:defRPr>
            </a:pPr>
            <a:r>
              <a:t>Volumes: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580644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postgres_data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80644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redis_data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80644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static_volume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5806440"/>
            <a:ext cx="1920240" cy="320040"/>
          </a:xfrm>
          <a:prstGeom prst="roundRect">
            <a:avLst>
              <a:gd name="adj" fmla="val 5000"/>
            </a:avLst>
          </a:prstGeom>
          <a:solidFill>
            <a:srgbClr val="2A2A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media_volume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03520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Component-based UI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21408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67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Type-safe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96896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Material-UI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6426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Component library &amp; theming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72384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Mermaid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Workflow diagram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47872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593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Analytics &amp; charting library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Axios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HTTP client with interceptors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98848"/>
            <a:ext cx="1737360" cy="365760"/>
          </a:xfrm>
          <a:prstGeom prst="roundRect">
            <a:avLst>
              <a:gd name="adj" fmla="val 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Router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544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Client-side routing &amp;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5156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051560"/>
            <a:ext cx="530352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64592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Django 5.1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6824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Web framework &amp; 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075688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DRF 3.15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1122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REST API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505456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Channels 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542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WebSocket / ASGI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935224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LangChain 0.3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LLM orchestration 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64992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LangGraph 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401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Stateful agent workflows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794760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Celery 5.4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831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Distributed task queue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224528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261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Primary relational database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654296"/>
            <a:ext cx="1737360" cy="347472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690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Cache, broker &amp; pub/sub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394960"/>
            <a:ext cx="1115568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External Services &amp; Protocols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OpenAI GPT-4o-mini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5943600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LangSmith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5943600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Langfuse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5943600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MCP Protocol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5943600"/>
            <a:ext cx="1920240" cy="384048"/>
          </a:xfrm>
          <a:prstGeom prst="roundRect">
            <a:avLst>
              <a:gd name="adj" fmla="val 5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A2A Protocol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Key Features &amp;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 distinct agent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ReAct, Rigid Plan-and-Execute, Multi-Agent Orchestrator, Recursive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4864" cy="8686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972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Real-time execution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Live WebSocket streaming of agent thought process &amp; tool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84832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54864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3055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Side-by-side agent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Run multiple agents on same prompt and compare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84832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084832"/>
            <a:ext cx="54864" cy="8686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LangGraph workflow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96312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Interactive Mermaid diagrams of agent state machines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18104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18104"/>
            <a:ext cx="54864" cy="868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6382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 upload &amp; RAG-powered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9584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PDF processing, chunking, and retrieval-augmented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18104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118104"/>
            <a:ext cx="54864" cy="86868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6382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MCP (Model Context Protocol)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29584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Expose agent tools as MCP-compatible endpoints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51376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151376"/>
            <a:ext cx="54864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970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A2A (Agent-to-Agent)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62856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Inter-agent communication and task delegation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51376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151376"/>
            <a:ext cx="54864" cy="868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1970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Celery async task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62856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Background execution with Flower real-time monitoring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84648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184648"/>
            <a:ext cx="54864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303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LangSmith &amp; Langfuse observability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9612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Full tracing, cost tracking, and performance analytics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184648"/>
            <a:ext cx="5349240" cy="868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184648"/>
            <a:ext cx="54864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303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59612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Performance trends, token usage, latency comparisons, success rates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